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  <p:embeddedFont>
      <p:font typeface="Antonio Bold" charset="1" panose="02000803000000000000"/>
      <p:regular r:id="rId21"/>
    </p:embeddedFont>
    <p:embeddedFont>
      <p:font typeface="DM Sans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445C">
                <a:alpha val="100000"/>
              </a:srgbClr>
            </a:gs>
            <a:gs pos="100000">
              <a:srgbClr val="000F35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06066">
            <a:off x="-106402" y="799042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0"/>
                </a:moveTo>
                <a:lnTo>
                  <a:pt x="13987511" y="0"/>
                </a:lnTo>
                <a:lnTo>
                  <a:pt x="13987511" y="459316"/>
                </a:lnTo>
                <a:lnTo>
                  <a:pt x="0" y="459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816113">
            <a:off x="3070478" y="-2419498"/>
            <a:ext cx="17273081" cy="4404996"/>
            <a:chOff x="0" y="0"/>
            <a:chExt cx="4549289" cy="11601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164851">
            <a:off x="4894913" y="-2926505"/>
            <a:ext cx="15422836" cy="4404996"/>
            <a:chOff x="0" y="0"/>
            <a:chExt cx="4061981" cy="11601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5025990" y="388633"/>
            <a:ext cx="687486" cy="1946863"/>
          </a:xfrm>
          <a:custGeom>
            <a:avLst/>
            <a:gdLst/>
            <a:ahLst/>
            <a:cxnLst/>
            <a:rect r="r" b="b" t="t" l="l"/>
            <a:pathLst>
              <a:path h="1946863" w="687486">
                <a:moveTo>
                  <a:pt x="0" y="0"/>
                </a:moveTo>
                <a:lnTo>
                  <a:pt x="687487" y="0"/>
                </a:lnTo>
                <a:lnTo>
                  <a:pt x="687487" y="1946863"/>
                </a:lnTo>
                <a:lnTo>
                  <a:pt x="0" y="1946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1951" y="2876953"/>
            <a:ext cx="7410047" cy="7410047"/>
          </a:xfrm>
          <a:custGeom>
            <a:avLst/>
            <a:gdLst/>
            <a:ahLst/>
            <a:cxnLst/>
            <a:rect r="r" b="b" t="t" l="l"/>
            <a:pathLst>
              <a:path h="7410047" w="7410047">
                <a:moveTo>
                  <a:pt x="0" y="0"/>
                </a:moveTo>
                <a:lnTo>
                  <a:pt x="7410047" y="0"/>
                </a:lnTo>
                <a:lnTo>
                  <a:pt x="7410047" y="7410047"/>
                </a:lnTo>
                <a:lnTo>
                  <a:pt x="0" y="74100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4423" y="1364427"/>
            <a:ext cx="9402595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 : History of Operating Systems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5247" y="4305935"/>
            <a:ext cx="9593821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Md. Imran Hosen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ID: IT-24060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Department of Information and Communication Technology, MBSTU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Supervised By,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Dr. Nazrul Islam sir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445C">
                <a:alpha val="100000"/>
              </a:srgbClr>
            </a:gs>
            <a:gs pos="100000">
              <a:srgbClr val="000F35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68315" y="3292082"/>
            <a:ext cx="10151370" cy="129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5"/>
              </a:lnSpc>
            </a:pPr>
            <a:r>
              <a:rPr lang="en-US" b="true" sz="9500">
                <a:solidFill>
                  <a:srgbClr val="FFAE10"/>
                </a:solidFill>
                <a:latin typeface="Antonio Bold"/>
                <a:ea typeface="Antonio Bold"/>
                <a:cs typeface="Antonio Bold"/>
                <a:sym typeface="Antonio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83267" y="5076825"/>
            <a:ext cx="17034423" cy="259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•An OS manages hardware and software resources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•Acts as interface between user and hardware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•Core: memory, processes, files, hardware</a:t>
            </a:r>
          </a:p>
          <a:p>
            <a:pPr algn="just">
              <a:lnSpc>
                <a:spcPts val="5168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-4950385">
            <a:off x="8330385" y="6039070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845038">
            <a:off x="9167195" y="3318419"/>
            <a:ext cx="17273081" cy="4404996"/>
            <a:chOff x="0" y="0"/>
            <a:chExt cx="4549289" cy="11601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6223465">
            <a:off x="10685987" y="4163035"/>
            <a:ext cx="15422836" cy="4404996"/>
            <a:chOff x="0" y="0"/>
            <a:chExt cx="4061981" cy="1160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5849614">
            <a:off x="-4029896" y="3788613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4954961">
            <a:off x="-8152276" y="2563585"/>
            <a:ext cx="17273081" cy="4404996"/>
            <a:chOff x="0" y="0"/>
            <a:chExt cx="4549289" cy="11601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4576534">
            <a:off x="-7820823" y="1718969"/>
            <a:ext cx="15422836" cy="4404996"/>
            <a:chOff x="0" y="0"/>
            <a:chExt cx="4061981" cy="11601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5400000">
            <a:off x="4489186" y="-18272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3"/>
                </a:lnTo>
                <a:lnTo>
                  <a:pt x="0" y="1946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13111614" y="8285274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2"/>
                </a:lnTo>
                <a:lnTo>
                  <a:pt x="0" y="194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445C">
                <a:alpha val="100000"/>
              </a:srgbClr>
            </a:gs>
            <a:gs pos="100000">
              <a:srgbClr val="000F35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38003" y="5076825"/>
            <a:ext cx="17034423" cy="324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•No operating systems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•Vacuum tubes hardware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•Manual setup via switches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•Low efficiency, one task only</a:t>
            </a:r>
          </a:p>
          <a:p>
            <a:pPr algn="just">
              <a:lnSpc>
                <a:spcPts val="5168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-4950385">
            <a:off x="8330385" y="6039070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845038">
            <a:off x="9167195" y="3318419"/>
            <a:ext cx="17273081" cy="4404996"/>
            <a:chOff x="0" y="0"/>
            <a:chExt cx="4549289" cy="1160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6223465">
            <a:off x="10685987" y="4163035"/>
            <a:ext cx="15422836" cy="4404996"/>
            <a:chOff x="0" y="0"/>
            <a:chExt cx="4061981" cy="11601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5849614">
            <a:off x="-4029896" y="3788613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4954961">
            <a:off x="-8152276" y="2563585"/>
            <a:ext cx="17273081" cy="4404996"/>
            <a:chOff x="0" y="0"/>
            <a:chExt cx="4549289" cy="1160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4576534">
            <a:off x="-7820823" y="1718969"/>
            <a:ext cx="15422836" cy="4404996"/>
            <a:chOff x="0" y="0"/>
            <a:chExt cx="4061981" cy="11601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4489186" y="-18272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3"/>
                </a:lnTo>
                <a:lnTo>
                  <a:pt x="0" y="1946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3111614" y="8285274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2"/>
                </a:lnTo>
                <a:lnTo>
                  <a:pt x="0" y="194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1909950" y="5143500"/>
            <a:ext cx="6487454" cy="5268868"/>
            <a:chOff x="0" y="0"/>
            <a:chExt cx="1708630" cy="13876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08630" cy="1387686"/>
            </a:xfrm>
            <a:custGeom>
              <a:avLst/>
              <a:gdLst/>
              <a:ahLst/>
              <a:cxnLst/>
              <a:rect r="r" b="b" t="t" l="l"/>
              <a:pathLst>
                <a:path h="1387686" w="1708630">
                  <a:moveTo>
                    <a:pt x="60862" y="0"/>
                  </a:moveTo>
                  <a:lnTo>
                    <a:pt x="1647768" y="0"/>
                  </a:lnTo>
                  <a:cubicBezTo>
                    <a:pt x="1681381" y="0"/>
                    <a:pt x="1708630" y="27249"/>
                    <a:pt x="1708630" y="60862"/>
                  </a:cubicBezTo>
                  <a:lnTo>
                    <a:pt x="1708630" y="1326824"/>
                  </a:lnTo>
                  <a:cubicBezTo>
                    <a:pt x="1708630" y="1360437"/>
                    <a:pt x="1681381" y="1387686"/>
                    <a:pt x="1647768" y="1387686"/>
                  </a:cubicBezTo>
                  <a:lnTo>
                    <a:pt x="60862" y="1387686"/>
                  </a:lnTo>
                  <a:cubicBezTo>
                    <a:pt x="27249" y="1387686"/>
                    <a:pt x="0" y="1360437"/>
                    <a:pt x="0" y="1326824"/>
                  </a:cubicBezTo>
                  <a:lnTo>
                    <a:pt x="0" y="60862"/>
                  </a:lnTo>
                  <a:cubicBezTo>
                    <a:pt x="0" y="27249"/>
                    <a:pt x="27249" y="0"/>
                    <a:pt x="608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445C">
                    <a:alpha val="100000"/>
                  </a:srgbClr>
                </a:gs>
                <a:gs pos="100000">
                  <a:srgbClr val="000F3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08630" cy="1425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173230" y="5011577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5" y="0"/>
                </a:lnTo>
                <a:lnTo>
                  <a:pt x="7960895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353363" y="3008953"/>
            <a:ext cx="10151370" cy="129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5"/>
              </a:lnSpc>
            </a:pPr>
            <a:r>
              <a:rPr lang="en-US" b="true" sz="9500">
                <a:solidFill>
                  <a:srgbClr val="FFAE10"/>
                </a:solidFill>
                <a:latin typeface="Antonio Bold"/>
                <a:ea typeface="Antonio Bold"/>
                <a:cs typeface="Antonio Bold"/>
                <a:sym typeface="Antonio Bold"/>
              </a:rPr>
              <a:t>PRE-OS ERA (1940S)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445C">
                <a:alpha val="100000"/>
              </a:srgbClr>
            </a:gs>
            <a:gs pos="100000">
              <a:srgbClr val="000F35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4663" y="4489262"/>
            <a:ext cx="17034423" cy="324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•Batch processing introduced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•Punch cards used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•Reduced CPU idle time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•GM-NAA I/O (1956) first OS</a:t>
            </a:r>
          </a:p>
          <a:p>
            <a:pPr algn="just">
              <a:lnSpc>
                <a:spcPts val="5168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-4950385">
            <a:off x="8330385" y="6039070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845038">
            <a:off x="9167195" y="3318419"/>
            <a:ext cx="17273081" cy="4404996"/>
            <a:chOff x="0" y="0"/>
            <a:chExt cx="4549289" cy="1160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6223465">
            <a:off x="10685987" y="4163035"/>
            <a:ext cx="15422836" cy="4404996"/>
            <a:chOff x="0" y="0"/>
            <a:chExt cx="4061981" cy="11601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5849614">
            <a:off x="-4029896" y="3788613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4954961">
            <a:off x="-8152276" y="2563585"/>
            <a:ext cx="17273081" cy="4404996"/>
            <a:chOff x="0" y="0"/>
            <a:chExt cx="4549289" cy="1160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4576534">
            <a:off x="-7820823" y="1718969"/>
            <a:ext cx="15422836" cy="4404996"/>
            <a:chOff x="0" y="0"/>
            <a:chExt cx="4061981" cy="11601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4489186" y="-18272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3"/>
                </a:lnTo>
                <a:lnTo>
                  <a:pt x="0" y="1946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3111614" y="8285274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2"/>
                </a:lnTo>
                <a:lnTo>
                  <a:pt x="0" y="194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931042" y="401827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783267" y="2089036"/>
            <a:ext cx="11883080" cy="129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5"/>
              </a:lnSpc>
            </a:pPr>
            <a:r>
              <a:rPr lang="en-US" b="true" sz="9500">
                <a:solidFill>
                  <a:srgbClr val="FFAE10"/>
                </a:solidFill>
                <a:latin typeface="Antonio Bold"/>
                <a:ea typeface="Antonio Bold"/>
                <a:cs typeface="Antonio Bold"/>
                <a:sym typeface="Antonio Bold"/>
              </a:rPr>
              <a:t>FIRST GENERATION (1950S)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445C">
                <a:alpha val="100000"/>
              </a:srgbClr>
            </a:gs>
            <a:gs pos="100000">
              <a:srgbClr val="000F35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63859" y="2912205"/>
            <a:ext cx="12674869" cy="110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2"/>
              </a:lnSpc>
            </a:pPr>
            <a:r>
              <a:rPr lang="en-US" b="true" sz="8157">
                <a:solidFill>
                  <a:srgbClr val="FFAE10"/>
                </a:solidFill>
                <a:latin typeface="Antonio Bold"/>
                <a:ea typeface="Antonio Bold"/>
                <a:cs typeface="Antonio Bold"/>
                <a:sym typeface="Antonio Bold"/>
              </a:rPr>
              <a:t>SECOND GENERATION (LATE 1960S)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38003" y="5076825"/>
            <a:ext cx="17034423" cy="324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•Multics project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•Joint MIT, Bell Labs, GE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•Complex but innovative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•Introduced file systems</a:t>
            </a:r>
          </a:p>
          <a:p>
            <a:pPr algn="just">
              <a:lnSpc>
                <a:spcPts val="5168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-4950385">
            <a:off x="8330385" y="6039070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845038">
            <a:off x="9167195" y="3318419"/>
            <a:ext cx="17273081" cy="4404996"/>
            <a:chOff x="0" y="0"/>
            <a:chExt cx="4549289" cy="11601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6223465">
            <a:off x="10685987" y="4163035"/>
            <a:ext cx="15422836" cy="4404996"/>
            <a:chOff x="0" y="0"/>
            <a:chExt cx="4061981" cy="1160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5849614">
            <a:off x="-4029896" y="3788613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4954961">
            <a:off x="-8152276" y="2563585"/>
            <a:ext cx="17273081" cy="4404996"/>
            <a:chOff x="0" y="0"/>
            <a:chExt cx="4549289" cy="11601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4576534">
            <a:off x="-7820823" y="1718969"/>
            <a:ext cx="15422836" cy="4404996"/>
            <a:chOff x="0" y="0"/>
            <a:chExt cx="4061981" cy="11601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5400000">
            <a:off x="4489186" y="-18272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3"/>
                </a:lnTo>
                <a:lnTo>
                  <a:pt x="0" y="1946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13111614" y="8285274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2"/>
                </a:lnTo>
                <a:lnTo>
                  <a:pt x="0" y="194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445C">
                <a:alpha val="100000"/>
              </a:srgbClr>
            </a:gs>
            <a:gs pos="100000">
              <a:srgbClr val="000F35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59759" y="2727316"/>
            <a:ext cx="11540874" cy="129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5"/>
              </a:lnSpc>
            </a:pPr>
            <a:r>
              <a:rPr lang="en-US" b="true" sz="9500">
                <a:solidFill>
                  <a:srgbClr val="FFAE10"/>
                </a:solidFill>
                <a:latin typeface="Antonio Bold"/>
                <a:ea typeface="Antonio Bold"/>
                <a:cs typeface="Antonio Bold"/>
                <a:sym typeface="Antonio Bold"/>
              </a:rPr>
              <a:t>UNIX REVOLUTION (1970S)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38003" y="5076825"/>
            <a:ext cx="17034423" cy="324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•Created at Bell Labs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•Simple, modular design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•Written in C language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•Portable OS</a:t>
            </a:r>
          </a:p>
          <a:p>
            <a:pPr algn="just">
              <a:lnSpc>
                <a:spcPts val="5168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-4950385">
            <a:off x="8330385" y="6039070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845038">
            <a:off x="9167195" y="3318419"/>
            <a:ext cx="17273081" cy="4404996"/>
            <a:chOff x="0" y="0"/>
            <a:chExt cx="4549289" cy="11601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6223465">
            <a:off x="10685987" y="4163035"/>
            <a:ext cx="15422836" cy="4404996"/>
            <a:chOff x="0" y="0"/>
            <a:chExt cx="4061981" cy="1160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5849614">
            <a:off x="-4029896" y="3788613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4954961">
            <a:off x="-8152276" y="2563585"/>
            <a:ext cx="17273081" cy="4404996"/>
            <a:chOff x="0" y="0"/>
            <a:chExt cx="4549289" cy="11601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4576534">
            <a:off x="-7820823" y="1718969"/>
            <a:ext cx="15422836" cy="4404996"/>
            <a:chOff x="0" y="0"/>
            <a:chExt cx="4061981" cy="11601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5400000">
            <a:off x="4489186" y="-18272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3"/>
                </a:lnTo>
                <a:lnTo>
                  <a:pt x="0" y="1946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13111614" y="8285274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2"/>
                </a:lnTo>
                <a:lnTo>
                  <a:pt x="0" y="194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445C">
                <a:alpha val="100000"/>
              </a:srgbClr>
            </a:gs>
            <a:gs pos="100000">
              <a:srgbClr val="000F35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63859" y="2727316"/>
            <a:ext cx="12680662" cy="129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5"/>
              </a:lnSpc>
            </a:pPr>
            <a:r>
              <a:rPr lang="en-US" b="true" sz="9500">
                <a:solidFill>
                  <a:srgbClr val="FFAE10"/>
                </a:solidFill>
                <a:latin typeface="Antonio Bold"/>
                <a:ea typeface="Antonio Bold"/>
                <a:cs typeface="Antonio Bold"/>
                <a:sym typeface="Antonio Bold"/>
              </a:rPr>
              <a:t>FOURTH GENERATION (1980S)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38003" y="5076825"/>
            <a:ext cx="17034423" cy="324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•Rise of personal computers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•MS-DOS (1981)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•Command-line interface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•Single-user system</a:t>
            </a:r>
          </a:p>
          <a:p>
            <a:pPr algn="just">
              <a:lnSpc>
                <a:spcPts val="5168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-4950385">
            <a:off x="8330385" y="6039070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845038">
            <a:off x="9167195" y="3318419"/>
            <a:ext cx="17273081" cy="4404996"/>
            <a:chOff x="0" y="0"/>
            <a:chExt cx="4549289" cy="11601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6223465">
            <a:off x="10685987" y="4163035"/>
            <a:ext cx="15422836" cy="4404996"/>
            <a:chOff x="0" y="0"/>
            <a:chExt cx="4061981" cy="1160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5849614">
            <a:off x="-4029896" y="3788613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4954961">
            <a:off x="-8152276" y="2563585"/>
            <a:ext cx="17273081" cy="4404996"/>
            <a:chOff x="0" y="0"/>
            <a:chExt cx="4549289" cy="11601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4576534">
            <a:off x="-7820823" y="1718969"/>
            <a:ext cx="15422836" cy="4404996"/>
            <a:chOff x="0" y="0"/>
            <a:chExt cx="4061981" cy="11601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5400000">
            <a:off x="4489186" y="-18272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3"/>
                </a:lnTo>
                <a:lnTo>
                  <a:pt x="0" y="1946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13111614" y="8285274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2"/>
                </a:lnTo>
                <a:lnTo>
                  <a:pt x="0" y="194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628329" y="5808371"/>
            <a:ext cx="6659671" cy="4478629"/>
          </a:xfrm>
          <a:custGeom>
            <a:avLst/>
            <a:gdLst/>
            <a:ahLst/>
            <a:cxnLst/>
            <a:rect r="r" b="b" t="t" l="l"/>
            <a:pathLst>
              <a:path h="4478629" w="6659671">
                <a:moveTo>
                  <a:pt x="0" y="0"/>
                </a:moveTo>
                <a:lnTo>
                  <a:pt x="6659671" y="0"/>
                </a:lnTo>
                <a:lnTo>
                  <a:pt x="6659671" y="4478629"/>
                </a:lnTo>
                <a:lnTo>
                  <a:pt x="0" y="4478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445C">
                <a:alpha val="100000"/>
              </a:srgbClr>
            </a:gs>
            <a:gs pos="100000">
              <a:srgbClr val="000F35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23415" y="5076825"/>
            <a:ext cx="17034423" cy="324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•Windows 3.x popularized GUI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•Windows 95 major leap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•Start menu introduced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•Windows NT for enterprise</a:t>
            </a:r>
          </a:p>
          <a:p>
            <a:pPr algn="just">
              <a:lnSpc>
                <a:spcPts val="5168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-4950385">
            <a:off x="8330385" y="6039070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845038">
            <a:off x="9167195" y="3318419"/>
            <a:ext cx="17273081" cy="4404996"/>
            <a:chOff x="0" y="0"/>
            <a:chExt cx="4549289" cy="1160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6223465">
            <a:off x="10685987" y="4163035"/>
            <a:ext cx="15422836" cy="4404996"/>
            <a:chOff x="0" y="0"/>
            <a:chExt cx="4061981" cy="11601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5849614">
            <a:off x="-4029896" y="3788613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4954961">
            <a:off x="-8152276" y="2563585"/>
            <a:ext cx="17273081" cy="4404996"/>
            <a:chOff x="0" y="0"/>
            <a:chExt cx="4549289" cy="1160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4576534">
            <a:off x="-7820823" y="1718969"/>
            <a:ext cx="15422836" cy="4404996"/>
            <a:chOff x="0" y="0"/>
            <a:chExt cx="4061981" cy="11601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4489186" y="-18272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3"/>
                </a:lnTo>
                <a:lnTo>
                  <a:pt x="0" y="1946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3111614" y="8285274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2"/>
                </a:lnTo>
                <a:lnTo>
                  <a:pt x="0" y="194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1426974" y="4514239"/>
            <a:ext cx="7327696" cy="5772761"/>
            <a:chOff x="0" y="0"/>
            <a:chExt cx="1929928" cy="15203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29928" cy="1520398"/>
            </a:xfrm>
            <a:custGeom>
              <a:avLst/>
              <a:gdLst/>
              <a:ahLst/>
              <a:cxnLst/>
              <a:rect r="r" b="b" t="t" l="l"/>
              <a:pathLst>
                <a:path h="1520398" w="1929928">
                  <a:moveTo>
                    <a:pt x="53883" y="0"/>
                  </a:moveTo>
                  <a:lnTo>
                    <a:pt x="1876045" y="0"/>
                  </a:lnTo>
                  <a:cubicBezTo>
                    <a:pt x="1890336" y="0"/>
                    <a:pt x="1904041" y="5677"/>
                    <a:pt x="1914146" y="15782"/>
                  </a:cubicBezTo>
                  <a:cubicBezTo>
                    <a:pt x="1924251" y="25887"/>
                    <a:pt x="1929928" y="39592"/>
                    <a:pt x="1929928" y="53883"/>
                  </a:cubicBezTo>
                  <a:lnTo>
                    <a:pt x="1929928" y="1466515"/>
                  </a:lnTo>
                  <a:cubicBezTo>
                    <a:pt x="1929928" y="1480806"/>
                    <a:pt x="1924251" y="1494511"/>
                    <a:pt x="1914146" y="1504616"/>
                  </a:cubicBezTo>
                  <a:cubicBezTo>
                    <a:pt x="1904041" y="1514721"/>
                    <a:pt x="1890336" y="1520398"/>
                    <a:pt x="1876045" y="1520398"/>
                  </a:cubicBezTo>
                  <a:lnTo>
                    <a:pt x="53883" y="1520398"/>
                  </a:lnTo>
                  <a:cubicBezTo>
                    <a:pt x="24124" y="1520398"/>
                    <a:pt x="0" y="1496274"/>
                    <a:pt x="0" y="1466515"/>
                  </a:cubicBezTo>
                  <a:lnTo>
                    <a:pt x="0" y="53883"/>
                  </a:lnTo>
                  <a:cubicBezTo>
                    <a:pt x="0" y="39592"/>
                    <a:pt x="5677" y="25887"/>
                    <a:pt x="15782" y="15782"/>
                  </a:cubicBezTo>
                  <a:cubicBezTo>
                    <a:pt x="25887" y="5677"/>
                    <a:pt x="39592" y="0"/>
                    <a:pt x="538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445C">
                    <a:alpha val="100000"/>
                  </a:srgbClr>
                </a:gs>
                <a:gs pos="100000">
                  <a:srgbClr val="000F3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29928" cy="1558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777866" y="4514239"/>
            <a:ext cx="8625912" cy="5750608"/>
          </a:xfrm>
          <a:custGeom>
            <a:avLst/>
            <a:gdLst/>
            <a:ahLst/>
            <a:cxnLst/>
            <a:rect r="r" b="b" t="t" l="l"/>
            <a:pathLst>
              <a:path h="5750608" w="8625912">
                <a:moveTo>
                  <a:pt x="0" y="0"/>
                </a:moveTo>
                <a:lnTo>
                  <a:pt x="8625912" y="0"/>
                </a:lnTo>
                <a:lnTo>
                  <a:pt x="8625912" y="5750607"/>
                </a:lnTo>
                <a:lnTo>
                  <a:pt x="0" y="57506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353363" y="3008953"/>
            <a:ext cx="10151370" cy="129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5"/>
              </a:lnSpc>
            </a:pPr>
            <a:r>
              <a:rPr lang="en-US" b="true" sz="9500">
                <a:solidFill>
                  <a:srgbClr val="FFAE10"/>
                </a:solidFill>
                <a:latin typeface="Antonio Bold"/>
                <a:ea typeface="Antonio Bold"/>
                <a:cs typeface="Antonio Bold"/>
                <a:sym typeface="Antonio Bold"/>
              </a:rPr>
              <a:t>1990S WINDOWS ERA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445C">
                <a:alpha val="100000"/>
              </a:srgbClr>
            </a:gs>
            <a:gs pos="100000">
              <a:srgbClr val="000F35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59413" y="2630511"/>
            <a:ext cx="12164727" cy="129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5"/>
              </a:lnSpc>
            </a:pPr>
            <a:r>
              <a:rPr lang="en-US" b="true" sz="9500">
                <a:solidFill>
                  <a:srgbClr val="FFAE10"/>
                </a:solidFill>
                <a:latin typeface="Antonio Bold"/>
                <a:ea typeface="Antonio Bold"/>
                <a:cs typeface="Antonio Bold"/>
                <a:sym typeface="Antonio Bold"/>
              </a:rPr>
              <a:t>OPEN SOURCE REVOLUTION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38003" y="5076825"/>
            <a:ext cx="17034423" cy="324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•Linux by Linus Torvalds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•Unix-like kernel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•GNU tools integration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•Dominates servers</a:t>
            </a:r>
          </a:p>
          <a:p>
            <a:pPr algn="just">
              <a:lnSpc>
                <a:spcPts val="5168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-4950385">
            <a:off x="8330385" y="6039070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845038">
            <a:off x="9167195" y="3318419"/>
            <a:ext cx="17273081" cy="4404996"/>
            <a:chOff x="0" y="0"/>
            <a:chExt cx="4549289" cy="11601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6223465">
            <a:off x="10685987" y="4163035"/>
            <a:ext cx="15422836" cy="4404996"/>
            <a:chOff x="0" y="0"/>
            <a:chExt cx="4061981" cy="1160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5849614">
            <a:off x="-4029896" y="3788613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4954961">
            <a:off x="-8152276" y="2563585"/>
            <a:ext cx="17273081" cy="4404996"/>
            <a:chOff x="0" y="0"/>
            <a:chExt cx="4549289" cy="11601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4576534">
            <a:off x="-7820823" y="1718969"/>
            <a:ext cx="15422836" cy="4404996"/>
            <a:chOff x="0" y="0"/>
            <a:chExt cx="4061981" cy="11601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5400000">
            <a:off x="4489186" y="-18272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3"/>
                </a:lnTo>
                <a:lnTo>
                  <a:pt x="0" y="1946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13111614" y="8285274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2"/>
                </a:lnTo>
                <a:lnTo>
                  <a:pt x="0" y="194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550590" y="5520917"/>
            <a:ext cx="7342620" cy="5461331"/>
            <a:chOff x="0" y="0"/>
            <a:chExt cx="1933859" cy="14383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3859" cy="1438375"/>
            </a:xfrm>
            <a:custGeom>
              <a:avLst/>
              <a:gdLst/>
              <a:ahLst/>
              <a:cxnLst/>
              <a:rect r="r" b="b" t="t" l="l"/>
              <a:pathLst>
                <a:path h="1438375" w="1933859">
                  <a:moveTo>
                    <a:pt x="53773" y="0"/>
                  </a:moveTo>
                  <a:lnTo>
                    <a:pt x="1880085" y="0"/>
                  </a:lnTo>
                  <a:cubicBezTo>
                    <a:pt x="1894347" y="0"/>
                    <a:pt x="1908024" y="5665"/>
                    <a:pt x="1918109" y="15750"/>
                  </a:cubicBezTo>
                  <a:cubicBezTo>
                    <a:pt x="1928193" y="25834"/>
                    <a:pt x="1933859" y="39512"/>
                    <a:pt x="1933859" y="53773"/>
                  </a:cubicBezTo>
                  <a:lnTo>
                    <a:pt x="1933859" y="1384602"/>
                  </a:lnTo>
                  <a:cubicBezTo>
                    <a:pt x="1933859" y="1414300"/>
                    <a:pt x="1909783" y="1438375"/>
                    <a:pt x="1880085" y="1438375"/>
                  </a:cubicBezTo>
                  <a:lnTo>
                    <a:pt x="53773" y="1438375"/>
                  </a:lnTo>
                  <a:cubicBezTo>
                    <a:pt x="39512" y="1438375"/>
                    <a:pt x="25834" y="1432710"/>
                    <a:pt x="15750" y="1422625"/>
                  </a:cubicBezTo>
                  <a:cubicBezTo>
                    <a:pt x="5665" y="1412541"/>
                    <a:pt x="0" y="1398863"/>
                    <a:pt x="0" y="1384602"/>
                  </a:cubicBezTo>
                  <a:lnTo>
                    <a:pt x="0" y="53773"/>
                  </a:lnTo>
                  <a:cubicBezTo>
                    <a:pt x="0" y="39512"/>
                    <a:pt x="5665" y="25834"/>
                    <a:pt x="15750" y="15750"/>
                  </a:cubicBezTo>
                  <a:cubicBezTo>
                    <a:pt x="25834" y="5665"/>
                    <a:pt x="39512" y="0"/>
                    <a:pt x="537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445C">
                    <a:alpha val="100000"/>
                  </a:srgbClr>
                </a:gs>
                <a:gs pos="100000">
                  <a:srgbClr val="000F3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33859" cy="14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1711113" y="6240548"/>
            <a:ext cx="6092623" cy="3017752"/>
          </a:xfrm>
          <a:custGeom>
            <a:avLst/>
            <a:gdLst/>
            <a:ahLst/>
            <a:cxnLst/>
            <a:rect r="r" b="b" t="t" l="l"/>
            <a:pathLst>
              <a:path h="3017752" w="6092623">
                <a:moveTo>
                  <a:pt x="0" y="0"/>
                </a:moveTo>
                <a:lnTo>
                  <a:pt x="6092623" y="0"/>
                </a:lnTo>
                <a:lnTo>
                  <a:pt x="6092623" y="3017752"/>
                </a:lnTo>
                <a:lnTo>
                  <a:pt x="0" y="3017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445C">
                <a:alpha val="100000"/>
              </a:srgbClr>
            </a:gs>
            <a:gs pos="100000">
              <a:srgbClr val="000F35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38003" y="4935260"/>
            <a:ext cx="17034423" cy="324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•Mac OS X UNIX-based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•Windows XP stability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•Internet &amp; WiFi support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•Multimedia advancements</a:t>
            </a:r>
          </a:p>
          <a:p>
            <a:pPr algn="just">
              <a:lnSpc>
                <a:spcPts val="5168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-4950385">
            <a:off x="8330385" y="6039070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845038">
            <a:off x="9167195" y="3318419"/>
            <a:ext cx="17273081" cy="4404996"/>
            <a:chOff x="0" y="0"/>
            <a:chExt cx="4549289" cy="1160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6223465">
            <a:off x="10685987" y="4163035"/>
            <a:ext cx="15422836" cy="4404996"/>
            <a:chOff x="0" y="0"/>
            <a:chExt cx="4061981" cy="11601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5849614">
            <a:off x="-4029896" y="3788613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4954961">
            <a:off x="-8152276" y="2563585"/>
            <a:ext cx="17273081" cy="4404996"/>
            <a:chOff x="0" y="0"/>
            <a:chExt cx="4549289" cy="1160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4576534">
            <a:off x="-7820823" y="1718969"/>
            <a:ext cx="15422836" cy="4404996"/>
            <a:chOff x="0" y="0"/>
            <a:chExt cx="4061981" cy="11601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4489186" y="-18272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3"/>
                </a:lnTo>
                <a:lnTo>
                  <a:pt x="0" y="1946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3111614" y="8285274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2"/>
                </a:lnTo>
                <a:lnTo>
                  <a:pt x="0" y="194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1393296" y="4561513"/>
            <a:ext cx="7521779" cy="6263430"/>
            <a:chOff x="0" y="0"/>
            <a:chExt cx="1981045" cy="16496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81045" cy="1649628"/>
            </a:xfrm>
            <a:custGeom>
              <a:avLst/>
              <a:gdLst/>
              <a:ahLst/>
              <a:cxnLst/>
              <a:rect r="r" b="b" t="t" l="l"/>
              <a:pathLst>
                <a:path h="1649628" w="1981045">
                  <a:moveTo>
                    <a:pt x="52493" y="0"/>
                  </a:moveTo>
                  <a:lnTo>
                    <a:pt x="1928552" y="0"/>
                  </a:lnTo>
                  <a:cubicBezTo>
                    <a:pt x="1957543" y="0"/>
                    <a:pt x="1981045" y="23502"/>
                    <a:pt x="1981045" y="52493"/>
                  </a:cubicBezTo>
                  <a:lnTo>
                    <a:pt x="1981045" y="1597135"/>
                  </a:lnTo>
                  <a:cubicBezTo>
                    <a:pt x="1981045" y="1611057"/>
                    <a:pt x="1975514" y="1624409"/>
                    <a:pt x="1965670" y="1634253"/>
                  </a:cubicBezTo>
                  <a:cubicBezTo>
                    <a:pt x="1955826" y="1644097"/>
                    <a:pt x="1942474" y="1649628"/>
                    <a:pt x="1928552" y="1649628"/>
                  </a:cubicBezTo>
                  <a:lnTo>
                    <a:pt x="52493" y="1649628"/>
                  </a:lnTo>
                  <a:cubicBezTo>
                    <a:pt x="23502" y="1649628"/>
                    <a:pt x="0" y="1626126"/>
                    <a:pt x="0" y="1597135"/>
                  </a:cubicBezTo>
                  <a:lnTo>
                    <a:pt x="0" y="52493"/>
                  </a:lnTo>
                  <a:cubicBezTo>
                    <a:pt x="0" y="23502"/>
                    <a:pt x="23502" y="0"/>
                    <a:pt x="524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445C">
                    <a:alpha val="100000"/>
                  </a:srgbClr>
                </a:gs>
                <a:gs pos="100000">
                  <a:srgbClr val="000F3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81045" cy="1687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144000" y="4299909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783267" y="2580867"/>
            <a:ext cx="10151370" cy="129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5"/>
              </a:lnSpc>
            </a:pPr>
            <a:r>
              <a:rPr lang="en-US" b="true" sz="9500">
                <a:solidFill>
                  <a:srgbClr val="FFAE10"/>
                </a:solidFill>
                <a:latin typeface="Antonio Bold"/>
                <a:ea typeface="Antonio Bold"/>
                <a:cs typeface="Antonio Bold"/>
                <a:sym typeface="Antonio Bold"/>
              </a:rPr>
              <a:t>2000S EVOLUTION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445C">
                <a:alpha val="100000"/>
              </a:srgbClr>
            </a:gs>
            <a:gs pos="100000">
              <a:srgbClr val="000F35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87521" y="5076825"/>
            <a:ext cx="17034423" cy="259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•iOS (2007)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•Android (2008)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•Touch interfaces</a:t>
            </a:r>
          </a:p>
          <a:p>
            <a:pPr algn="just">
              <a:lnSpc>
                <a:spcPts val="5168"/>
              </a:lnSpc>
              <a:spcBef>
                <a:spcPct val="0"/>
              </a:spcBef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Sensor integration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-4950385">
            <a:off x="8330385" y="6039070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845038">
            <a:off x="9167195" y="3318419"/>
            <a:ext cx="17273081" cy="4404996"/>
            <a:chOff x="0" y="0"/>
            <a:chExt cx="4549289" cy="1160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6223465">
            <a:off x="10685987" y="4163035"/>
            <a:ext cx="15422836" cy="4404996"/>
            <a:chOff x="0" y="0"/>
            <a:chExt cx="4061981" cy="11601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5849614">
            <a:off x="-4029896" y="3788613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4954961">
            <a:off x="-8152276" y="2563585"/>
            <a:ext cx="17273081" cy="4404996"/>
            <a:chOff x="0" y="0"/>
            <a:chExt cx="4549289" cy="1160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4576534">
            <a:off x="-7820823" y="1718969"/>
            <a:ext cx="15422836" cy="4404996"/>
            <a:chOff x="0" y="0"/>
            <a:chExt cx="4061981" cy="11601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4489186" y="-18272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3"/>
                </a:lnTo>
                <a:lnTo>
                  <a:pt x="0" y="1946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3111614" y="8285274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2"/>
                </a:lnTo>
                <a:lnTo>
                  <a:pt x="0" y="194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734681" y="4766083"/>
            <a:ext cx="7553319" cy="5520917"/>
            <a:chOff x="0" y="0"/>
            <a:chExt cx="1989351" cy="14540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89351" cy="1454069"/>
            </a:xfrm>
            <a:custGeom>
              <a:avLst/>
              <a:gdLst/>
              <a:ahLst/>
              <a:cxnLst/>
              <a:rect r="r" b="b" t="t" l="l"/>
              <a:pathLst>
                <a:path h="1454069" w="1989351">
                  <a:moveTo>
                    <a:pt x="52273" y="0"/>
                  </a:moveTo>
                  <a:lnTo>
                    <a:pt x="1937078" y="0"/>
                  </a:lnTo>
                  <a:cubicBezTo>
                    <a:pt x="1950942" y="0"/>
                    <a:pt x="1964238" y="5507"/>
                    <a:pt x="1974041" y="15311"/>
                  </a:cubicBezTo>
                  <a:cubicBezTo>
                    <a:pt x="1983844" y="25114"/>
                    <a:pt x="1989351" y="38410"/>
                    <a:pt x="1989351" y="52273"/>
                  </a:cubicBezTo>
                  <a:lnTo>
                    <a:pt x="1989351" y="1401795"/>
                  </a:lnTo>
                  <a:cubicBezTo>
                    <a:pt x="1989351" y="1415659"/>
                    <a:pt x="1983844" y="1428955"/>
                    <a:pt x="1974041" y="1438758"/>
                  </a:cubicBezTo>
                  <a:cubicBezTo>
                    <a:pt x="1964238" y="1448561"/>
                    <a:pt x="1950942" y="1454069"/>
                    <a:pt x="1937078" y="1454069"/>
                  </a:cubicBezTo>
                  <a:lnTo>
                    <a:pt x="52273" y="1454069"/>
                  </a:lnTo>
                  <a:cubicBezTo>
                    <a:pt x="38410" y="1454069"/>
                    <a:pt x="25114" y="1448561"/>
                    <a:pt x="15311" y="1438758"/>
                  </a:cubicBezTo>
                  <a:cubicBezTo>
                    <a:pt x="5507" y="1428955"/>
                    <a:pt x="0" y="1415659"/>
                    <a:pt x="0" y="1401795"/>
                  </a:cubicBezTo>
                  <a:lnTo>
                    <a:pt x="0" y="52273"/>
                  </a:lnTo>
                  <a:cubicBezTo>
                    <a:pt x="0" y="38410"/>
                    <a:pt x="5507" y="25114"/>
                    <a:pt x="15311" y="15311"/>
                  </a:cubicBezTo>
                  <a:cubicBezTo>
                    <a:pt x="25114" y="5507"/>
                    <a:pt x="38410" y="0"/>
                    <a:pt x="522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445C">
                    <a:alpha val="100000"/>
                  </a:srgbClr>
                </a:gs>
                <a:gs pos="100000">
                  <a:srgbClr val="000F3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89351" cy="1492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449453" y="4766083"/>
            <a:ext cx="8110559" cy="5407039"/>
          </a:xfrm>
          <a:custGeom>
            <a:avLst/>
            <a:gdLst/>
            <a:ahLst/>
            <a:cxnLst/>
            <a:rect r="r" b="b" t="t" l="l"/>
            <a:pathLst>
              <a:path h="5407039" w="8110559">
                <a:moveTo>
                  <a:pt x="0" y="0"/>
                </a:moveTo>
                <a:lnTo>
                  <a:pt x="8110560" y="0"/>
                </a:lnTo>
                <a:lnTo>
                  <a:pt x="8110560" y="5407039"/>
                </a:lnTo>
                <a:lnTo>
                  <a:pt x="0" y="54070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353363" y="3008953"/>
            <a:ext cx="10151370" cy="129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5"/>
              </a:lnSpc>
            </a:pPr>
            <a:r>
              <a:rPr lang="en-US" b="true" sz="9500">
                <a:solidFill>
                  <a:srgbClr val="FFAE10"/>
                </a:solidFill>
                <a:latin typeface="Antonio Bold"/>
                <a:ea typeface="Antonio Bold"/>
                <a:cs typeface="Antonio Bold"/>
                <a:sym typeface="Antonio Bold"/>
              </a:rPr>
              <a:t>MOBILE REVOLUTION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445C">
                <a:alpha val="100000"/>
              </a:srgbClr>
            </a:gs>
            <a:gs pos="100000">
              <a:srgbClr val="000F35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16562" y="4386456"/>
            <a:ext cx="17034423" cy="521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•Cloud computing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•ChromeOS browser-based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•Strong security focus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•AI-driven systems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•IoT expansion</a:t>
            </a:r>
          </a:p>
          <a:p>
            <a:pPr algn="just">
              <a:lnSpc>
                <a:spcPts val="5168"/>
              </a:lnSpc>
            </a:pPr>
            <a:r>
              <a:rPr lang="en-US" sz="36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•Quantum OS concepts</a:t>
            </a:r>
          </a:p>
          <a:p>
            <a:pPr algn="just">
              <a:lnSpc>
                <a:spcPts val="5168"/>
              </a:lnSpc>
            </a:pPr>
          </a:p>
          <a:p>
            <a:pPr algn="just">
              <a:lnSpc>
                <a:spcPts val="5168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-4950385">
            <a:off x="8330385" y="6039070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845038">
            <a:off x="9167195" y="3318419"/>
            <a:ext cx="17273081" cy="4404996"/>
            <a:chOff x="0" y="0"/>
            <a:chExt cx="4549289" cy="1160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445C">
                    <a:alpha val="100000"/>
                  </a:srgbClr>
                </a:gs>
                <a:gs pos="100000">
                  <a:srgbClr val="000F3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6223465">
            <a:off x="10685987" y="4163035"/>
            <a:ext cx="15422836" cy="4404996"/>
            <a:chOff x="0" y="0"/>
            <a:chExt cx="4061981" cy="11601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5849614">
            <a:off x="-4029896" y="3788613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4954961">
            <a:off x="-8152276" y="2563585"/>
            <a:ext cx="17273081" cy="4404996"/>
            <a:chOff x="0" y="0"/>
            <a:chExt cx="4549289" cy="1160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4576534">
            <a:off x="-7820823" y="1718969"/>
            <a:ext cx="15422836" cy="4404996"/>
            <a:chOff x="0" y="0"/>
            <a:chExt cx="4061981" cy="11601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4489186" y="-18272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3"/>
                </a:lnTo>
                <a:lnTo>
                  <a:pt x="0" y="1946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3111614" y="8285274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2"/>
                </a:lnTo>
                <a:lnTo>
                  <a:pt x="0" y="194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482188" y="4766083"/>
            <a:ext cx="5805812" cy="5544551"/>
          </a:xfrm>
          <a:custGeom>
            <a:avLst/>
            <a:gdLst/>
            <a:ahLst/>
            <a:cxnLst/>
            <a:rect r="r" b="b" t="t" l="l"/>
            <a:pathLst>
              <a:path h="5544551" w="5805812">
                <a:moveTo>
                  <a:pt x="0" y="0"/>
                </a:moveTo>
                <a:lnTo>
                  <a:pt x="5805812" y="0"/>
                </a:lnTo>
                <a:lnTo>
                  <a:pt x="5805812" y="5544550"/>
                </a:lnTo>
                <a:lnTo>
                  <a:pt x="0" y="55445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946371" y="2587847"/>
            <a:ext cx="10151370" cy="129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5"/>
              </a:lnSpc>
            </a:pPr>
            <a:r>
              <a:rPr lang="en-US" b="true" sz="9500">
                <a:solidFill>
                  <a:srgbClr val="FFAE10"/>
                </a:solidFill>
                <a:latin typeface="Antonio Bold"/>
                <a:ea typeface="Antonio Bold"/>
                <a:cs typeface="Antonio Bold"/>
                <a:sym typeface="Antonio Bold"/>
              </a:rPr>
              <a:t>MODERN ERA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445C">
                <a:alpha val="100000"/>
              </a:srgbClr>
            </a:gs>
            <a:gs pos="100000">
              <a:srgbClr val="000F35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03648" y="4653121"/>
            <a:ext cx="9058655" cy="33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31"/>
              </a:lnSpc>
            </a:pPr>
            <a:r>
              <a:rPr lang="en-US" b="true" sz="8477">
                <a:solidFill>
                  <a:srgbClr val="FFAE10"/>
                </a:solidFill>
                <a:latin typeface="Antonio Bold"/>
                <a:ea typeface="Antonio Bold"/>
                <a:cs typeface="Antonio Bold"/>
                <a:sym typeface="Antonio Bold"/>
              </a:rPr>
              <a:t>THANK YOU!</a:t>
            </a:r>
          </a:p>
          <a:p>
            <a:pPr algn="ctr">
              <a:lnSpc>
                <a:spcPts val="8731"/>
              </a:lnSpc>
            </a:pPr>
          </a:p>
          <a:p>
            <a:pPr algn="ctr">
              <a:lnSpc>
                <a:spcPts val="873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-4950385">
            <a:off x="8330385" y="6039070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845038">
            <a:off x="9167195" y="3318419"/>
            <a:ext cx="17273081" cy="4404996"/>
            <a:chOff x="0" y="0"/>
            <a:chExt cx="4549289" cy="1160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6223465">
            <a:off x="10685987" y="4163035"/>
            <a:ext cx="15422836" cy="4404996"/>
            <a:chOff x="0" y="0"/>
            <a:chExt cx="4061981" cy="11601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5849614">
            <a:off x="-4029896" y="3788613"/>
            <a:ext cx="13987511" cy="459317"/>
          </a:xfrm>
          <a:custGeom>
            <a:avLst/>
            <a:gdLst/>
            <a:ahLst/>
            <a:cxnLst/>
            <a:rect r="r" b="b" t="t" l="l"/>
            <a:pathLst>
              <a:path h="459317" w="13987511">
                <a:moveTo>
                  <a:pt x="0" y="459317"/>
                </a:moveTo>
                <a:lnTo>
                  <a:pt x="13987511" y="459317"/>
                </a:lnTo>
                <a:lnTo>
                  <a:pt x="13987511" y="0"/>
                </a:lnTo>
                <a:lnTo>
                  <a:pt x="0" y="0"/>
                </a:lnTo>
                <a:lnTo>
                  <a:pt x="0" y="459317"/>
                </a:lnTo>
                <a:close/>
              </a:path>
            </a:pathLst>
          </a:custGeom>
          <a:blipFill>
            <a:blip r:embed="rId2"/>
            <a:stretch>
              <a:fillRect l="0" t="-1691704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4954961">
            <a:off x="-8152276" y="2563585"/>
            <a:ext cx="17273081" cy="4404996"/>
            <a:chOff x="0" y="0"/>
            <a:chExt cx="4549289" cy="1160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49289" cy="1160164"/>
            </a:xfrm>
            <a:custGeom>
              <a:avLst/>
              <a:gdLst/>
              <a:ahLst/>
              <a:cxnLst/>
              <a:rect r="r" b="b" t="t" l="l"/>
              <a:pathLst>
                <a:path h="1160164" w="4549289">
                  <a:moveTo>
                    <a:pt x="8964" y="0"/>
                  </a:moveTo>
                  <a:lnTo>
                    <a:pt x="4540324" y="0"/>
                  </a:lnTo>
                  <a:cubicBezTo>
                    <a:pt x="4542702" y="0"/>
                    <a:pt x="4544982" y="944"/>
                    <a:pt x="4546663" y="2626"/>
                  </a:cubicBezTo>
                  <a:cubicBezTo>
                    <a:pt x="4548344" y="4307"/>
                    <a:pt x="4549289" y="6587"/>
                    <a:pt x="4549289" y="8964"/>
                  </a:cubicBezTo>
                  <a:lnTo>
                    <a:pt x="4549289" y="1151199"/>
                  </a:lnTo>
                  <a:cubicBezTo>
                    <a:pt x="4549289" y="1153577"/>
                    <a:pt x="4548344" y="1155857"/>
                    <a:pt x="4546663" y="1157538"/>
                  </a:cubicBezTo>
                  <a:cubicBezTo>
                    <a:pt x="4544982" y="1159219"/>
                    <a:pt x="4542702" y="1160164"/>
                    <a:pt x="4540324" y="1160164"/>
                  </a:cubicBezTo>
                  <a:lnTo>
                    <a:pt x="8964" y="1160164"/>
                  </a:lnTo>
                  <a:cubicBezTo>
                    <a:pt x="6587" y="1160164"/>
                    <a:pt x="4307" y="1159219"/>
                    <a:pt x="2626" y="1157538"/>
                  </a:cubicBezTo>
                  <a:cubicBezTo>
                    <a:pt x="944" y="1155857"/>
                    <a:pt x="0" y="1153577"/>
                    <a:pt x="0" y="1151199"/>
                  </a:cubicBezTo>
                  <a:lnTo>
                    <a:pt x="0" y="8964"/>
                  </a:lnTo>
                  <a:cubicBezTo>
                    <a:pt x="0" y="6587"/>
                    <a:pt x="944" y="4307"/>
                    <a:pt x="2626" y="2626"/>
                  </a:cubicBezTo>
                  <a:cubicBezTo>
                    <a:pt x="4307" y="944"/>
                    <a:pt x="6587" y="0"/>
                    <a:pt x="8964" y="0"/>
                  </a:cubicBezTo>
                  <a:close/>
                </a:path>
              </a:pathLst>
            </a:custGeom>
            <a:solidFill>
              <a:srgbClr val="FFAE1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549289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4576534">
            <a:off x="-7820823" y="1718969"/>
            <a:ext cx="15422836" cy="4404996"/>
            <a:chOff x="0" y="0"/>
            <a:chExt cx="4061981" cy="11601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1982" cy="1160164"/>
            </a:xfrm>
            <a:custGeom>
              <a:avLst/>
              <a:gdLst/>
              <a:ahLst/>
              <a:cxnLst/>
              <a:rect r="r" b="b" t="t" l="l"/>
              <a:pathLst>
                <a:path h="1160164" w="4061982">
                  <a:moveTo>
                    <a:pt x="10040" y="0"/>
                  </a:moveTo>
                  <a:lnTo>
                    <a:pt x="4051942" y="0"/>
                  </a:lnTo>
                  <a:cubicBezTo>
                    <a:pt x="4057487" y="0"/>
                    <a:pt x="4061982" y="4495"/>
                    <a:pt x="4061982" y="10040"/>
                  </a:cubicBezTo>
                  <a:lnTo>
                    <a:pt x="4061982" y="1150124"/>
                  </a:lnTo>
                  <a:cubicBezTo>
                    <a:pt x="4061982" y="1152787"/>
                    <a:pt x="4060924" y="1155340"/>
                    <a:pt x="4059041" y="1157223"/>
                  </a:cubicBezTo>
                  <a:cubicBezTo>
                    <a:pt x="4057158" y="1159106"/>
                    <a:pt x="4054604" y="1160164"/>
                    <a:pt x="4051942" y="1160164"/>
                  </a:cubicBezTo>
                  <a:lnTo>
                    <a:pt x="10040" y="1160164"/>
                  </a:lnTo>
                  <a:cubicBezTo>
                    <a:pt x="4495" y="1160164"/>
                    <a:pt x="0" y="1155669"/>
                    <a:pt x="0" y="1150124"/>
                  </a:cubicBezTo>
                  <a:lnTo>
                    <a:pt x="0" y="10040"/>
                  </a:lnTo>
                  <a:cubicBezTo>
                    <a:pt x="0" y="4495"/>
                    <a:pt x="4495" y="0"/>
                    <a:pt x="10040" y="0"/>
                  </a:cubicBezTo>
                  <a:close/>
                </a:path>
              </a:pathLst>
            </a:custGeom>
            <a:solidFill>
              <a:srgbClr val="0120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1981" cy="1198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4489186" y="-18272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3"/>
                </a:lnTo>
                <a:lnTo>
                  <a:pt x="0" y="1946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3111614" y="8285274"/>
            <a:ext cx="687200" cy="1946053"/>
          </a:xfrm>
          <a:custGeom>
            <a:avLst/>
            <a:gdLst/>
            <a:ahLst/>
            <a:cxnLst/>
            <a:rect r="r" b="b" t="t" l="l"/>
            <a:pathLst>
              <a:path h="1946053" w="687200">
                <a:moveTo>
                  <a:pt x="0" y="0"/>
                </a:moveTo>
                <a:lnTo>
                  <a:pt x="687200" y="0"/>
                </a:lnTo>
                <a:lnTo>
                  <a:pt x="687200" y="1946052"/>
                </a:lnTo>
                <a:lnTo>
                  <a:pt x="0" y="1946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3539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DAHH2ehARG4</dc:identifier>
  <dcterms:modified xsi:type="dcterms:W3CDTF">2011-08-01T06:04:30Z</dcterms:modified>
  <cp:revision>1</cp:revision>
  <dc:title>•An OS manages hardware and software resources •Acts as interface between user and hardware •Core: memory, processes, files, hardware</dc:title>
</cp:coreProperties>
</file>